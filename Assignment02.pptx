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50DF9-6238-493C-91EF-4D418C90D2A6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B5A50-C1C0-48D6-A76D-CE23C64D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B5A50-C1C0-48D6-A76D-CE23C64D37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1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B5A50-C1C0-48D6-A76D-CE23C64D37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8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5348-B70F-289C-F8A9-3550034BC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820BA-F836-3547-32F3-46F74ACF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E17C-34DC-90A3-D284-C507E5C6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CD21-5C22-2E77-E262-07931D08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E87E-5941-17FA-44B0-2BA4FC56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8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99D7-6CF7-90FA-B100-F7C1C101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19D15-2C60-295F-A7E2-7ED34084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77DA-3937-CCDB-BA18-D3079C3B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D951-C7D9-6244-02B9-B8A584F3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2B24-F8FA-9194-EB76-D087EC8E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8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3FD9-01A4-C56A-FA0B-50CCF0BD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B0A7-292B-CA2A-020A-CD638FB6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7BB3-D93D-E60E-CC10-CA71DC58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8D278-28F2-542D-9F52-E5E61368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9379-A04F-00FA-46CA-4379E02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33A1-EA58-3E4F-7D74-F5E0E888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F4D66-E8F6-EFA9-CAF6-9EAD8F023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31882-C40C-9EAB-33F1-41C652719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C279C-7562-A15A-DE17-4B800D5D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D15AF-19EF-5E84-AC95-14B03D5D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52CF-163E-1A9A-4084-24789706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1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479A-4475-D3F2-AD27-94579950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85D73-7B30-1BDC-A2EE-4F39A28E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B47A6-D924-8763-FE7A-18D087FE0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CA72A-5A28-2F12-59DA-86E61777B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C6DA1-81B5-4477-D236-3B755D1A9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8360E-BD21-251C-925A-50D0D123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31FD3-BD24-41C6-E6A4-12AB6FA0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DF94D-2D42-D731-A2E4-D871E6D5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9A01-E388-A734-AF6D-F0C6590A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1B891-A2FE-E161-A845-D3613A9F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B8F6E-D7FF-C481-B4A1-DD4B1F8A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F40B-DB26-B068-9BD3-22DD310C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5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A4916-9A5D-BD87-546F-36D8F4CC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1C4D-6351-C730-B2B2-16FF188E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C543A-F0C6-562B-C7A1-5BAB4F75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1D88-7725-A456-9E86-91642256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8B93-1E6D-EE46-10BB-4E654ACE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849C3-0420-9AA9-7333-ED93C50CB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C7AC1-5627-D0FC-7DCE-BA83C48E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61B27-4D25-08F7-ABF5-B11FD277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E24AD-6091-742A-88D3-F6922BD8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8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C416-F200-C8D4-D94F-72412C66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C8118-1746-A2F8-04B2-737D5635A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3E3F4-4CCF-F940-0B7B-C141FAC31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8BEE8-777C-7698-2A19-A7EDFCD0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02C87-1F19-089C-1DD7-F86AAF56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E971-FE35-DD7D-05F5-C5DAF138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8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8655-FE45-9BC5-0FCE-DD9229EC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53A99-75AB-E98C-FF5F-BFE1380EA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C540-59CA-5C5E-A817-F5B451F8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7436-8AF1-B382-DEDD-39F60207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DB02-859A-1A2E-D5FE-1D1B099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8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C046C-21D0-E76C-5019-C63FF9A4E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ECF1C-8D14-EC4F-A954-C53BA4B5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3707-2D24-F6A8-03C2-8F2F238B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28504-5204-5260-31EB-CFB6A9D1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CF9E-4113-FDC4-4DC5-89450214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6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33BF0-F571-9A31-7EC0-3127E726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8F78-4ED7-BF3D-0421-CF329B490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9362-5BF1-0C86-AF51-B6AE54A96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86A4-10A8-4473-A717-74C828DD65C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7ED9A-7049-03F0-A567-3480050CC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708C-2AB3-C0AB-ED24-631214B19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9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60F1-BC1D-0C10-E8E5-038B5145A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Type Conversion in Compiler Design</a:t>
            </a:r>
            <a:br>
              <a:rPr lang="en-US" sz="44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</a:br>
            <a:endParaRPr lang="en-US" sz="4400" b="1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9D48F-8046-B4FD-B50C-7497F6198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Implicit Coercion vs. Explicit 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B3556-AE9A-ED7A-F712-F918A7CE52AD}"/>
              </a:ext>
            </a:extLst>
          </p:cNvPr>
          <p:cNvSpPr txBox="1"/>
          <p:nvPr/>
        </p:nvSpPr>
        <p:spPr>
          <a:xfrm>
            <a:off x="1432560" y="4312156"/>
            <a:ext cx="923544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Course: Principles of Compiler Design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Presented By: Abraham Addisu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Student ID: 1504850</a:t>
            </a:r>
          </a:p>
          <a:p>
            <a:pPr algn="ctr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573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8B19FA-54B8-3EE8-2199-E59964F3A8F1}"/>
              </a:ext>
            </a:extLst>
          </p:cNvPr>
          <p:cNvSpPr txBox="1"/>
          <p:nvPr/>
        </p:nvSpPr>
        <p:spPr>
          <a:xfrm>
            <a:off x="815130" y="541991"/>
            <a:ext cx="10561740" cy="5441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Core Concept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 conversion is the process of changing data from one type (e.g., int) to another (e.g., float).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it's necessary?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CPU hardware performs arithmetic differently for integers and decimals.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Ensures type safety during the </a:t>
            </a:r>
            <a:r>
              <a:rPr lang="en-US" sz="2200" b="1" dirty="0"/>
              <a:t>Semantic Analysis</a:t>
            </a:r>
            <a:r>
              <a:rPr lang="en-US" sz="2200" dirty="0"/>
              <a:t> phase.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Goal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bridge the gap between high-level code and low-level machine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24916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42F3A-8925-A874-164B-758E07C5C92E}"/>
              </a:ext>
            </a:extLst>
          </p:cNvPr>
          <p:cNvSpPr txBox="1"/>
          <p:nvPr/>
        </p:nvSpPr>
        <p:spPr>
          <a:xfrm>
            <a:off x="651545" y="288076"/>
            <a:ext cx="10888910" cy="637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Implicit Type Conversion (Coercion)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Automatic conversion performed by the compiler without programmer intervention.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Rule of Thumb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"Widening" — Smaller types are promoted to larger types to avoid data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Example (C++)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int x = 10;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double y = x + 5.5; // x is promoted to 10.0 automatically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Advantage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Convenient and safe; preserves precision.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2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409E-450B-1B93-48D5-04A4FF6B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356F45-9618-ABA9-358F-8C0CE15927B0}"/>
              </a:ext>
            </a:extLst>
          </p:cNvPr>
          <p:cNvSpPr txBox="1"/>
          <p:nvPr/>
        </p:nvSpPr>
        <p:spPr>
          <a:xfrm>
            <a:off x="651545" y="288076"/>
            <a:ext cx="10888910" cy="599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Explicit Type Conversion (Casting)</a:t>
            </a:r>
            <a:endParaRPr lang="en-US" sz="4000" b="1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Manual conversion where the programmer explicitly tells the compiler to change a type.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Rule of Thumb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"Narrowing" — Used when moving from a larger type to a smaller one.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Example (C++)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double pi = 3.14; 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int x = (int)pi;  // Result is 3; the .14 is truncated (lost)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Potential data loss or overflow.</a:t>
            </a:r>
          </a:p>
        </p:txBody>
      </p:sp>
    </p:spTree>
    <p:extLst>
      <p:ext uri="{BB962C8B-B14F-4D97-AF65-F5344CB8AC3E}">
        <p14:creationId xmlns:p14="http://schemas.microsoft.com/office/powerpoint/2010/main" val="225103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9F6AF-6ED2-85FE-6179-B43F0617ECF6}"/>
              </a:ext>
            </a:extLst>
          </p:cNvPr>
          <p:cNvSpPr txBox="1"/>
          <p:nvPr/>
        </p:nvSpPr>
        <p:spPr>
          <a:xfrm>
            <a:off x="872454" y="724809"/>
            <a:ext cx="10712742" cy="494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The Compiler's Perspective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How the Compiler processes types: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Parsing:</a:t>
            </a:r>
            <a:r>
              <a:rPr lang="en-US" sz="2400" dirty="0"/>
              <a:t> </a:t>
            </a:r>
            <a:r>
              <a:rPr lang="en-US" sz="2200" dirty="0"/>
              <a:t>Creates the Abstract Syntax Tree (AST).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Type Checking:</a:t>
            </a:r>
            <a:r>
              <a:rPr lang="en-US" sz="2400" dirty="0"/>
              <a:t> </a:t>
            </a:r>
            <a:r>
              <a:rPr lang="en-US" sz="2200" dirty="0"/>
              <a:t>The Semantic Analyzer checks if operands match.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Transformation:</a:t>
            </a:r>
            <a:r>
              <a:rPr lang="en-US" sz="2400" dirty="0"/>
              <a:t> </a:t>
            </a:r>
            <a:r>
              <a:rPr lang="en-US" sz="2200" dirty="0"/>
              <a:t>If a mismatch is found (e.g., int + float), the compiler inserts a "Conversion Node" into the tree.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Code Generation:</a:t>
            </a:r>
            <a:r>
              <a:rPr lang="en-US" sz="2400" dirty="0"/>
              <a:t> </a:t>
            </a:r>
            <a:r>
              <a:rPr lang="en-US" sz="2200" dirty="0"/>
              <a:t>Generates the specific CPU instruction for the converted type.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5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B0A5C3-CE8C-B770-87B3-D579377B1BE7}"/>
              </a:ext>
            </a:extLst>
          </p:cNvPr>
          <p:cNvSpPr/>
          <p:nvPr/>
        </p:nvSpPr>
        <p:spPr>
          <a:xfrm>
            <a:off x="533050" y="3042581"/>
            <a:ext cx="1254155" cy="13532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Input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X = 5 + 2.5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8600F-D228-7A29-033A-7B35DDAE2574}"/>
              </a:ext>
            </a:extLst>
          </p:cNvPr>
          <p:cNvSpPr/>
          <p:nvPr/>
        </p:nvSpPr>
        <p:spPr>
          <a:xfrm>
            <a:off x="2560910" y="3038681"/>
            <a:ext cx="1249953" cy="13532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Parser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5       2.5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2559C003-20F7-9785-BFD6-E76CBEA5506E}"/>
              </a:ext>
            </a:extLst>
          </p:cNvPr>
          <p:cNvSpPr/>
          <p:nvPr/>
        </p:nvSpPr>
        <p:spPr>
          <a:xfrm>
            <a:off x="4556619" y="2697320"/>
            <a:ext cx="3078761" cy="2043768"/>
          </a:xfrm>
          <a:prstGeom prst="flowChartDecision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Type Mismatch?</a:t>
            </a:r>
            <a:br>
              <a:rPr lang="en-US" sz="1600" dirty="0"/>
            </a:br>
            <a:r>
              <a:rPr lang="en-US" sz="1600" dirty="0"/>
              <a:t>int Vs float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7CF3E-04B9-D0BB-152B-47478F22D185}"/>
              </a:ext>
            </a:extLst>
          </p:cNvPr>
          <p:cNvSpPr/>
          <p:nvPr/>
        </p:nvSpPr>
        <p:spPr>
          <a:xfrm>
            <a:off x="8381136" y="3001947"/>
            <a:ext cx="1660331" cy="13532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Transformation</a:t>
            </a:r>
          </a:p>
          <a:p>
            <a:pPr algn="ctr"/>
            <a:endParaRPr lang="en-US" sz="1200" dirty="0"/>
          </a:p>
          <a:p>
            <a:pPr algn="ctr"/>
            <a:r>
              <a:rPr lang="en-US" sz="1400" dirty="0"/>
              <a:t>Inserts “intToFloat” node</a:t>
            </a:r>
          </a:p>
          <a:p>
            <a:pPr algn="ctr"/>
            <a:r>
              <a:rPr lang="en-US" sz="1400" dirty="0"/>
              <a:t>(e.g 5 to 5.0)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50D614-C96C-0E98-65B3-5B7EEE20BAAE}"/>
              </a:ext>
            </a:extLst>
          </p:cNvPr>
          <p:cNvSpPr/>
          <p:nvPr/>
        </p:nvSpPr>
        <p:spPr>
          <a:xfrm>
            <a:off x="10404794" y="3001946"/>
            <a:ext cx="1266029" cy="13532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Final Output</a:t>
            </a:r>
          </a:p>
          <a:p>
            <a:pPr algn="ctr"/>
            <a:endParaRPr lang="en-US" dirty="0"/>
          </a:p>
          <a:p>
            <a:pPr algn="ctr"/>
            <a:r>
              <a:rPr lang="en-US" sz="1600" dirty="0"/>
              <a:t>x = 5.0 + 2.5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56B37F-9848-B419-AE69-102F49FF1A78}"/>
              </a:ext>
            </a:extLst>
          </p:cNvPr>
          <p:cNvCxnSpPr>
            <a:cxnSpLocks/>
          </p:cNvCxnSpPr>
          <p:nvPr/>
        </p:nvCxnSpPr>
        <p:spPr>
          <a:xfrm>
            <a:off x="3166712" y="3678571"/>
            <a:ext cx="231006" cy="27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3DD04B-AA93-F157-D9B0-074AD372F32B}"/>
              </a:ext>
            </a:extLst>
          </p:cNvPr>
          <p:cNvCxnSpPr>
            <a:cxnSpLocks/>
          </p:cNvCxnSpPr>
          <p:nvPr/>
        </p:nvCxnSpPr>
        <p:spPr>
          <a:xfrm flipH="1">
            <a:off x="2877954" y="3678571"/>
            <a:ext cx="288758" cy="27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4734EF-B4D9-B996-6430-C9CFDC9D1062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787205" y="3715306"/>
            <a:ext cx="773705" cy="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1A049D-3714-3941-7D39-6C02D69230EF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823970" y="3715305"/>
            <a:ext cx="732649" cy="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DDEAAC-B2AA-CF3B-C955-01B64D7619E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635380" y="3715305"/>
            <a:ext cx="732649" cy="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253736E-FA79-465E-6AB9-294A93CE35D7}"/>
              </a:ext>
            </a:extLst>
          </p:cNvPr>
          <p:cNvSpPr txBox="1"/>
          <p:nvPr/>
        </p:nvSpPr>
        <p:spPr>
          <a:xfrm>
            <a:off x="7758945" y="3442629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A3CD0CD-2B83-6D5A-E4F8-07EC95515ED9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 rot="5400000" flipH="1" flipV="1">
            <a:off x="8373957" y="2077237"/>
            <a:ext cx="385893" cy="4941809"/>
          </a:xfrm>
          <a:prstGeom prst="bentConnector3">
            <a:avLst>
              <a:gd name="adj1" fmla="val -592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71D9661-4899-FCB0-F357-BCCA8D3BA912}"/>
              </a:ext>
            </a:extLst>
          </p:cNvPr>
          <p:cNvSpPr txBox="1"/>
          <p:nvPr/>
        </p:nvSpPr>
        <p:spPr>
          <a:xfrm>
            <a:off x="8381136" y="462185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AB3A2C-46BC-0CB5-7847-4629E77A2B9F}"/>
              </a:ext>
            </a:extLst>
          </p:cNvPr>
          <p:cNvSpPr txBox="1"/>
          <p:nvPr/>
        </p:nvSpPr>
        <p:spPr>
          <a:xfrm>
            <a:off x="3296194" y="806554"/>
            <a:ext cx="5599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The Compiler Process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6292A67-2FA9-CEFD-E384-4490C424B9DF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10041467" y="3678571"/>
            <a:ext cx="3633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1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660BAC-2501-B3F8-4447-DED4AE3B8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06999"/>
              </p:ext>
            </p:extLst>
          </p:nvPr>
        </p:nvGraphicFramePr>
        <p:xfrm>
          <a:off x="1176868" y="1881229"/>
          <a:ext cx="9914466" cy="389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822">
                  <a:extLst>
                    <a:ext uri="{9D8B030D-6E8A-4147-A177-3AD203B41FA5}">
                      <a16:colId xmlns:a16="http://schemas.microsoft.com/office/drawing/2014/main" val="1945995057"/>
                    </a:ext>
                  </a:extLst>
                </a:gridCol>
                <a:gridCol w="3304822">
                  <a:extLst>
                    <a:ext uri="{9D8B030D-6E8A-4147-A177-3AD203B41FA5}">
                      <a16:colId xmlns:a16="http://schemas.microsoft.com/office/drawing/2014/main" val="2753211531"/>
                    </a:ext>
                  </a:extLst>
                </a:gridCol>
                <a:gridCol w="3304822">
                  <a:extLst>
                    <a:ext uri="{9D8B030D-6E8A-4147-A177-3AD203B41FA5}">
                      <a16:colId xmlns:a16="http://schemas.microsoft.com/office/drawing/2014/main" val="3030574324"/>
                    </a:ext>
                  </a:extLst>
                </a:gridCol>
              </a:tblGrid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Implicit (Coercion)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(Casting)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825627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Compiler-controlled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Programmer-controlled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12078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Automatic?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576953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Data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Safe (Widening)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Risky (Narrowing)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2696"/>
                  </a:ext>
                </a:extLst>
              </a:tr>
              <a:tr h="666629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Hidden from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Explicitly written in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699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78A429-BB5B-E67F-7BBA-AFF438890228}"/>
              </a:ext>
            </a:extLst>
          </p:cNvPr>
          <p:cNvSpPr txBox="1"/>
          <p:nvPr/>
        </p:nvSpPr>
        <p:spPr>
          <a:xfrm>
            <a:off x="3048698" y="696177"/>
            <a:ext cx="6094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9896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CD7A6-16C6-59D8-0AFE-2B211741A3C3}"/>
              </a:ext>
            </a:extLst>
          </p:cNvPr>
          <p:cNvSpPr txBox="1"/>
          <p:nvPr/>
        </p:nvSpPr>
        <p:spPr>
          <a:xfrm>
            <a:off x="840297" y="760749"/>
            <a:ext cx="10511406" cy="299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 conversion is vital for hardware compatibility.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Implicit conversion simplifies coding but can hide logic.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Explicit conversion gives full control but requires caution regarding data loss.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Understanding these helps in writing efficient code and debugging semantic errors.</a:t>
            </a:r>
          </a:p>
        </p:txBody>
      </p:sp>
    </p:spTree>
    <p:extLst>
      <p:ext uri="{BB962C8B-B14F-4D97-AF65-F5344CB8AC3E}">
        <p14:creationId xmlns:p14="http://schemas.microsoft.com/office/powerpoint/2010/main" val="317468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952D4-0835-4900-96B1-C5E89F8ADB4F}"/>
              </a:ext>
            </a:extLst>
          </p:cNvPr>
          <p:cNvSpPr txBox="1"/>
          <p:nvPr/>
        </p:nvSpPr>
        <p:spPr>
          <a:xfrm>
            <a:off x="1090568" y="951637"/>
            <a:ext cx="9966121" cy="3917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Aho, A. V., Lam, M. S., Sethi, R., &amp; Ullman, J. D. (2006). </a:t>
            </a:r>
            <a:r>
              <a:rPr lang="en-US" sz="2200" i="1" dirty="0"/>
              <a:t>Compilers: Principles, Techniques, and Tools</a:t>
            </a:r>
            <a:r>
              <a:rPr lang="en-US" sz="2200" dirty="0"/>
              <a:t> (The Dragon Book).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GeeksforGeeks: Type Conversion in C++.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Minas-27 GitHub Repository: </a:t>
            </a:r>
            <a:r>
              <a:rPr lang="en-US" sz="2200" dirty="0">
                <a:hlinkClick r:id="rId2" action="ppaction://hlinksldjump"/>
              </a:rPr>
              <a:t>https://github.com/Minas-27/Type-Conversion-Compiler-Design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212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494</Words>
  <Application>Microsoft Office PowerPoint</Application>
  <PresentationFormat>Widescreen</PresentationFormat>
  <Paragraphs>86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Type Conversion in Compiler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Addisu</dc:creator>
  <cp:lastModifiedBy>Abraham Addisu</cp:lastModifiedBy>
  <cp:revision>3</cp:revision>
  <dcterms:created xsi:type="dcterms:W3CDTF">2026-01-03T19:26:57Z</dcterms:created>
  <dcterms:modified xsi:type="dcterms:W3CDTF">2026-01-04T21:38:06Z</dcterms:modified>
</cp:coreProperties>
</file>